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embeddedFontLst>
    <p:embeddedFont>
      <p:font typeface="Fragment Mono" panose="020B0509030202020204"/>
      <p:regular r:id="rId21"/>
    </p:embeddedFont>
    <p:embeddedFont>
      <p:font typeface="Inter Tight"/>
      <p:regular r:id="rId22"/>
    </p:embeddedFont>
    <p:embeddedFont>
      <p:font typeface="Inter Tight Bold" pitchFamily="2" charset="0"/>
      <p:regular r:id="rId23"/>
      <p:bold r:id="rId24"/>
    </p:embeddedFont>
    <p:embeddedFont>
      <p:font typeface="Inter Tight SemiBold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34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investigation: evaluating machine learning architectures on distracted driver detection under rigorous driver-separated evaluation, examining both statistical performance and ethical deployment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guiding question: models frequently overfit to specific cabin textures and individual driver morphology. Highlight that posture classification is not true safety assurance.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partitioning protocol: keeping drivers segregated between training and testing is essential to prevent background and identity memorization.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each modeling philosophy: handcrafted visual descriptors, uninitialized deep representation learning, and transfer learning leveraging pretrained representations.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why macro metrics are mandatory: micro-averaging or raw accuracy lets high performance on frequent classes mask near-total failure on passenger interaction or texting.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cross-validation inflection: raw MobileNet features with default SVM regularization initially scored below classical HOG, until aggressive regularization restrained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primary empirical finding: MobileNetV3 + SVM outperforms classical HOG by 12.11 percentage points on unseen drivers, while the un-pretrained CNN struggles with limited training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Grad-CAM findings: when the model fails, attention frequently shifts away from hands to ambient lighting, cabin glare, or seat fabrics.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the 2-minute notebook agenda: focus strictly on verified execution cells, demonstrating how reproducible code directly aligns with the slide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stark 40.59 percentage point spread between drivers. High aggregate accuracy hides unacceptable individualized failure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the governance imperative: dataset provenance, facial privacy, and severe operational asymmetry preclude immediate commercial or industrial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proposed runtime pipeline: explain why edge processing protects passenger privacy by discarding raw video frames immediately after tensor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continuous governance lifecycle: monitoring operational latency is trivial, but detecting safety drift requires human auditing of false-positive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separate the implemented Python/PyTorch codebase from enterprise concepts like AWS SageMaker or edge Docker containers to maintain academic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balanced perspective: celebrate the 70.11% technical win while re-iterating that real-world deployment requires temporal context, privacy safeguards, and bias mitigation.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formal academic references across foundational machine learning literature, benchmark sources, and API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9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5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4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4.png"/><Relationship Id="rId5" Type="http://schemas.openxmlformats.org/officeDocument/2006/relationships/image" Target="../media/image22.jpeg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5.png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access.thecvf.com/content_ICCV_2019/html/Howard_Searching_for_MobileNetV3_ICCV_2019_paper.html?utm_source=chatgpt.com" TargetMode="External"/><Relationship Id="rId13" Type="http://schemas.openxmlformats.org/officeDocument/2006/relationships/hyperlink" Target="https://scikit-learn.org/stable/modules/generated/sklearn.preprocessing.StandardScaler.html?utm_source=chatgpt.com" TargetMode="External"/><Relationship Id="rId3" Type="http://schemas.openxmlformats.org/officeDocument/2006/relationships/slideLayout" Target="../slideLayouts/slideLayout3.xml"/><Relationship Id="rId7" Type="http://schemas.openxmlformats.org/officeDocument/2006/relationships/hyperlink" Target="https://fastapi.tiangolo.com/deployment/docker/?utm_source=chatgpt.com" TargetMode="External"/><Relationship Id="rId12" Type="http://schemas.openxmlformats.org/officeDocument/2006/relationships/hyperlink" Target="https://scikit-learn.org/stable/modules/generated/sklearn.svm.LinearSVC.html?utm_source=chatgpt.com" TargetMode="External"/><Relationship Id="rId2" Type="http://schemas.openxmlformats.org/officeDocument/2006/relationships/audio" Target="../media/media18.m4a"/><Relationship Id="rId16" Type="http://schemas.openxmlformats.org/officeDocument/2006/relationships/image" Target="../media/image4.png"/><Relationship Id="rId1" Type="http://schemas.microsoft.com/office/2007/relationships/media" Target="../media/media18.m4a"/><Relationship Id="rId6" Type="http://schemas.openxmlformats.org/officeDocument/2006/relationships/hyperlink" Target="https://docs.aws.amazon.com/sagemaker/latest/dg/realtime-endpoints.html?utm_source=chatgpt.com" TargetMode="External"/><Relationship Id="rId11" Type="http://schemas.openxmlformats.org/officeDocument/2006/relationships/hyperlink" Target="https://scikit-image.org/docs/stable/api/skimage.feature.html?utm_source=chatgpt.com" TargetMode="External"/><Relationship Id="rId5" Type="http://schemas.openxmlformats.org/officeDocument/2006/relationships/hyperlink" Target="https://docs.aws.amazon.com/sagemaker/latest/dg/model-monitor.html?utm_source=chatgpt.com" TargetMode="External"/><Relationship Id="rId15" Type="http://schemas.openxmlformats.org/officeDocument/2006/relationships/hyperlink" Target="https://www.kaggle.com/competitions/state-farm-distracted-driver-detection?utm_source=chatgpt.com" TargetMode="External"/><Relationship Id="rId10" Type="http://schemas.openxmlformats.org/officeDocument/2006/relationships/hyperlink" Target="https://scikit-image.org/docs/stable/api/skimage.feature.html#skimage.feature.hog" TargetMode="External"/><Relationship Id="rId4" Type="http://schemas.openxmlformats.org/officeDocument/2006/relationships/notesSlide" Target="../notesSlides/notesSlide17.xml"/><Relationship Id="rId9" Type="http://schemas.openxmlformats.org/officeDocument/2006/relationships/hyperlink" Target="https://docs.pytorch.org/vision/main/models/generated/torchvision.models.mobilenet_v3_small.html?utm_source=chatgpt.com" TargetMode="External"/><Relationship Id="rId14" Type="http://schemas.openxmlformats.org/officeDocument/2006/relationships/hyperlink" Target="https://openaccess.thecvf.com/content_iccv_2017/html/Selvaraju_Grad-CAM_Visual_Explanations_ICCV_2017_paper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365816" y="1016000"/>
            <a:ext cx="4317892" cy="37584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518212" y="1112520"/>
            <a:ext cx="416549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University of Essex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65816" y="1391841"/>
            <a:ext cx="4317892" cy="1482229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07110" y="1633141"/>
            <a:ext cx="3835304" cy="999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95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Ramon Flores Arteaga</a:t>
            </a:r>
            <a:endParaRPr lang="en-US" sz="1450" dirty="0"/>
          </a:p>
          <a:p>
            <a:pPr marL="0" indent="0" algn="l">
              <a:lnSpc>
                <a:spcPct val="113000"/>
              </a:lnSpc>
              <a:spcAft>
                <a:spcPts val="9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MSc Artificial Intelligence</a:t>
            </a:r>
            <a:endParaRPr lang="en-US" sz="14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Machine Learning · July 2026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7987" y="3109913"/>
            <a:ext cx="6857828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8000" kern="100" spc="-36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Comparative</a:t>
            </a:r>
            <a:endParaRPr lang="en-US" sz="80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8000" kern="100" spc="-36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Intelligence &amp; Ethics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07987" y="6089650"/>
            <a:ext cx="685782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100" spc="-1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Distracted Driver Classification in Machine Learning Systems</a:t>
            </a:r>
            <a:endParaRPr lang="en-US" sz="2000" dirty="0"/>
          </a:p>
        </p:txBody>
      </p:sp>
      <p:pic>
        <p:nvPicPr>
          <p:cNvPr id="9" name="Picture 8" descr="Student Information Team | Blog | University of Essex">
            <a:extLst>
              <a:ext uri="{FF2B5EF4-FFF2-40B4-BE49-F238E27FC236}">
                <a16:creationId xmlns:a16="http://schemas.microsoft.com/office/drawing/2014/main" id="{149BE83C-97D6-DDFF-B677-D1735A190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529112" cy="15291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80D3BD9-0E23-5744-6030-EBB309957812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17" name="Audio 16">
            <a:extLst>
              <a:ext uri="{FF2B5EF4-FFF2-40B4-BE49-F238E27FC236}">
                <a16:creationId xmlns:a16="http://schemas.microsoft.com/office/drawing/2014/main" id="{7765B0F4-7143-D2E6-1CE0-5C2222A0C1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570"/>
    </mc:Choice>
    <mc:Fallback xmlns="">
      <p:transition spd="slow" advTm="545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14020"/>
            <a:ext cx="716262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RESEARCH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35060"/>
            <a:ext cx="680703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Dataset and research question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822053"/>
            <a:ext cx="6807030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58786" y="2099866"/>
            <a:ext cx="169084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688263" y="2169890"/>
            <a:ext cx="204147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DATASET SCALE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58786" y="2536527"/>
            <a:ext cx="325111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22,424 images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8786" y="3063339"/>
            <a:ext cx="3251119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State Farm benchmark across 26 distinct drivers and 10 posture classes.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114697" y="2099866"/>
            <a:ext cx="169084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244174" y="2169890"/>
            <a:ext cx="204147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ARCHITECTURES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697" y="2536527"/>
            <a:ext cx="325111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 paradigms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697" y="3063339"/>
            <a:ext cx="3251119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Handcrafted HOG + SVM, a custom lightweight CNN, and pretrained MobileNetV3 + linear SVM.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1182" y="4066064"/>
            <a:ext cx="665463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CRITICAL_DISTINCTION.LOG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A186F3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D57891A-BF3E-B54C-9492-59493BC8D2F1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F823EB2-EB1C-F273-CD62-DA5573AF98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738" y="3599673"/>
            <a:ext cx="7325126" cy="2923790"/>
          </a:xfrm>
          <a:prstGeom prst="rect">
            <a:avLst/>
          </a:prstGeom>
        </p:spPr>
      </p:pic>
      <p:pic>
        <p:nvPicPr>
          <p:cNvPr id="21" name="Audio 20">
            <a:extLst>
              <a:ext uri="{FF2B5EF4-FFF2-40B4-BE49-F238E27FC236}">
                <a16:creationId xmlns:a16="http://schemas.microsoft.com/office/drawing/2014/main" id="{AE775D61-758E-FF36-BC5E-A76722FAC7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00"/>
    </mc:Choice>
    <mc:Fallback xmlns="">
      <p:transition spd="slow" advTm="616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716262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EXPERIMENTAL RIGOUR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680703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Preprocessing and  separation by driver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748790"/>
            <a:ext cx="680703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Random image-level splitting inflates benchmark accuracy by allowing identical drivers, clothing, and cabin backgrounds into both train and test splits.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6582" y="2477572"/>
            <a:ext cx="30733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DEV_SPLIT.CSV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B8B8C4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1ADA26C-7E40-73AD-E3BF-E96C174CBA24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1258D6-52F4-1547-9863-64AEC902D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231" y="2499542"/>
            <a:ext cx="5751695" cy="22803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EA82E7C-89FB-4CA7-E4CD-20E3DB3DC4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4251" y="525510"/>
            <a:ext cx="3784600" cy="2095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80949FE-2656-DE9B-EE16-351E02B350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2068" y="3018195"/>
            <a:ext cx="3848100" cy="2171700"/>
          </a:xfrm>
          <a:prstGeom prst="rect">
            <a:avLst/>
          </a:prstGeom>
        </p:spPr>
      </p:pic>
      <p:pic>
        <p:nvPicPr>
          <p:cNvPr id="11" name="Audio 10">
            <a:extLst>
              <a:ext uri="{FF2B5EF4-FFF2-40B4-BE49-F238E27FC236}">
                <a16:creationId xmlns:a16="http://schemas.microsoft.com/office/drawing/2014/main" id="{2F54DF43-11CE-91B8-7D89-E831A90016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146"/>
    </mc:Choice>
    <mc:Fallback xmlns="">
      <p:transition spd="slow" advTm="591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Three modelling approaches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2403574"/>
            <a:ext cx="3488146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58786" y="2619474"/>
            <a:ext cx="125032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688263" y="2689499"/>
            <a:ext cx="160095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CLASSICAL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58786" y="3122811"/>
            <a:ext cx="348814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HOG + Linear SVM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8786" y="3649623"/>
            <a:ext cx="3488146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Handcrafted edge-direction histograms extracting coarse contour and boundary gradients without deep feature representation.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58786" y="4769763"/>
            <a:ext cx="348814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INPUT: 128 × 96 · SCIKIT-IMAGE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1725" y="2403574"/>
            <a:ext cx="3488146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4351725" y="2619474"/>
            <a:ext cx="169084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1202" y="2689499"/>
            <a:ext cx="204147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DEEP BASELINE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51725" y="3122811"/>
            <a:ext cx="348814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Lightweight CNN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51725" y="3649623"/>
            <a:ext cx="3488146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End-to-end convolutional network trained from scratch for five epochs, testing raw feature extraction under constrained capacity.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351725" y="4769763"/>
            <a:ext cx="348814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PYTORCH · SCRATCH TRAINING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44663" y="2403574"/>
            <a:ext cx="3488246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8144663" y="2619474"/>
            <a:ext cx="191120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8274141" y="2689499"/>
            <a:ext cx="226183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HYBRID PIPELINE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144663" y="3122811"/>
            <a:ext cx="348824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MobileNetV3 + SVM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144663" y="3649623"/>
            <a:ext cx="3488246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Frozen pretrained MobileNetV3 Small backbone yielding dense semantic feature vectors paired with a regularized linear classifier.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44663" y="4769763"/>
            <a:ext cx="348824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TORCHVISION + LINEARSVC (C TUNED)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8786" y="6291382"/>
            <a:ext cx="1163290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ALL ARCHITECTURES EVALUATED UNDER IDENTICAL DRIVER-SEPARATED FOLDS WITHOUT DATA LEAKAGE</a:t>
            </a:r>
            <a:endParaRPr lang="en-US" sz="13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26DED2-35A8-15BB-5CF7-9C50E90C87FF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6EB50B7-C791-C157-0F7F-576266149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867" y="172850"/>
            <a:ext cx="5153577" cy="2157064"/>
          </a:xfrm>
          <a:prstGeom prst="rect">
            <a:avLst/>
          </a:prstGeom>
        </p:spPr>
      </p:pic>
      <p:pic>
        <p:nvPicPr>
          <p:cNvPr id="27" name="Audio 26">
            <a:extLst>
              <a:ext uri="{FF2B5EF4-FFF2-40B4-BE49-F238E27FC236}">
                <a16:creationId xmlns:a16="http://schemas.microsoft.com/office/drawing/2014/main" id="{05CA7D6F-4F77-F82F-4C82-0B6DA2D003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26"/>
    </mc:Choice>
    <mc:Fallback xmlns="">
      <p:transition spd="slow" advTm="62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4DA18D-B90E-F53F-36D7-FFF8273AF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441" y="915151"/>
            <a:ext cx="6075215" cy="5764513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C0BDF721-FB2C-EC0C-F56C-10599C49BCFC}"/>
              </a:ext>
            </a:extLst>
          </p:cNvPr>
          <p:cNvSpPr/>
          <p:nvPr/>
        </p:nvSpPr>
        <p:spPr>
          <a:xfrm>
            <a:off x="319300" y="32467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Three modelling approaches Results and Code Prerecorded</a:t>
            </a:r>
            <a:endParaRPr lang="en-US" sz="3400" dirty="0"/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D83395D4-085C-459E-3772-B1073D269E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64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654"/>
    </mc:Choice>
    <mc:Fallback xmlns="">
      <p:transition spd="slow" advTm="426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9523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EVALUATION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953137"/>
            <a:ext cx="7945490" cy="589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Validation and performance measures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58786" y="2127309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07" y="2301934"/>
            <a:ext cx="330192" cy="33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86" y="2962651"/>
            <a:ext cx="276853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METRIC 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8786" y="3382525"/>
            <a:ext cx="25399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Overall Accuracy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58786" y="3829168"/>
            <a:ext cx="2539936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Aggregate percentage of correct predictions across all evaluation frames.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555911" y="2127309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532" y="2301934"/>
            <a:ext cx="330192" cy="33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5911" y="2962651"/>
            <a:ext cx="25399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METRIC 02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55911" y="3382525"/>
            <a:ext cx="231134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Macro Precision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555911" y="3829168"/>
            <a:ext cx="2311342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Unweighted mean of precision scores across all 10 distinct behaviour classes.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324442" y="2127309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9062" y="2301934"/>
            <a:ext cx="330192" cy="330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4442" y="2962651"/>
            <a:ext cx="25399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METRIC 03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24442" y="3382525"/>
            <a:ext cx="231134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Macro Recall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6324442" y="3829168"/>
            <a:ext cx="2311342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Unweighted average sensitivity detecting each specific driver distraction category.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9092973" y="2127309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7593" y="2301934"/>
            <a:ext cx="330192" cy="330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2973" y="2962651"/>
            <a:ext cx="25399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METRIC 04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92973" y="3382525"/>
            <a:ext cx="25399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Macro F1-Score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9092973" y="3829168"/>
            <a:ext cx="2539936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Primary selection metric weighting minority and majority posture classes equally.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558786" y="6076771"/>
            <a:ext cx="1107412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MODEL SELECTION PROTOCOL: TUNE HYPERPARAMETER C ON DEVELOPMENT FOLDS VIA MACRO F1 · EVALUATE EXACTLY ONCE ON 6 HELD-OUT TEST DRIVERS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3320967" y="2127309"/>
            <a:ext cx="12700" cy="269150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1"/>
          <p:cNvSpPr/>
          <p:nvPr/>
        </p:nvSpPr>
        <p:spPr>
          <a:xfrm>
            <a:off x="6089498" y="2127309"/>
            <a:ext cx="12700" cy="269150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Shape 22"/>
          <p:cNvSpPr/>
          <p:nvPr/>
        </p:nvSpPr>
        <p:spPr>
          <a:xfrm>
            <a:off x="8858028" y="2127309"/>
            <a:ext cx="12700" cy="2691507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214AFD-D669-A8D2-CEF7-6A3AFF8C0840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32" name="Audio 31">
            <a:extLst>
              <a:ext uri="{FF2B5EF4-FFF2-40B4-BE49-F238E27FC236}">
                <a16:creationId xmlns:a16="http://schemas.microsoft.com/office/drawing/2014/main" id="{5FEFDC1C-1F0D-9A52-3089-A0DBEC8502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020"/>
    </mc:Choice>
    <mc:Fallback xmlns="">
      <p:transition spd="slow" advTm="580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Pretrained features and regularization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744266"/>
            <a:ext cx="6724085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840786"/>
            <a:ext cx="65716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Mean Accuracy between models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8786" y="2120106"/>
            <a:ext cx="6724085" cy="4382294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80" y="2414290"/>
            <a:ext cx="6241497" cy="379392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39960" y="1045192"/>
            <a:ext cx="158071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7869438" y="1115216"/>
            <a:ext cx="193134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39960" y="1481853"/>
            <a:ext cx="389294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100" spc="-12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Severe regularization was decisive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739960" y="2389665"/>
            <a:ext cx="3892949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High-dimensional pretrained embeddings overfit training drivers under standard penalties. Sweeping down to </a:t>
            </a:r>
            <a:r>
              <a:rPr lang="en-US" sz="145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C = 0.0001</a:t>
            </a: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raised mean CV accuracy to 61.02% and macro F1 to 0.6038.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739960" y="3558700"/>
            <a:ext cx="3892949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7739960" y="3773330"/>
            <a:ext cx="3892949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FURTHER REDUCTION BELOW 1E-4 DID NOT YIELD GAINS; MACRO F1 ON VALIDATION FOLDS SERVED AS THE SOLE SELECTOR.</a:t>
            </a:r>
            <a:endParaRPr lang="en-US" sz="1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F58354-BF54-A72E-B3D9-DFB8909F968B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B665F8-0CB8-FB0D-C288-47E9AE3427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3761" y="4462110"/>
            <a:ext cx="2517301" cy="2064584"/>
          </a:xfrm>
          <a:prstGeom prst="rect">
            <a:avLst/>
          </a:prstGeom>
        </p:spPr>
      </p:pic>
      <p:pic>
        <p:nvPicPr>
          <p:cNvPr id="18" name="Audio 17">
            <a:extLst>
              <a:ext uri="{FF2B5EF4-FFF2-40B4-BE49-F238E27FC236}">
                <a16:creationId xmlns:a16="http://schemas.microsoft.com/office/drawing/2014/main" id="{19B875CB-18D9-B1A3-AA44-93755D92F1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405"/>
    </mc:Choice>
    <mc:Fallback xmlns="">
      <p:transition spd="slow" advTm="724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FINAL HELD-OUT TEST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Final Comparison on unseen drivers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316990"/>
            <a:ext cx="11632909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Tested exactly once across 4,978 held-out images from 6 previously unseen drivers (p021, p022, p026, p035, p047, p050).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58786" y="2530971"/>
            <a:ext cx="11074123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627491"/>
            <a:ext cx="109217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FINAL_BENCHMARK_RESULTS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8786" y="2906812"/>
            <a:ext cx="11074123" cy="2182416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080" y="2970312"/>
          <a:ext cx="10591536" cy="2029965"/>
        </p:xfrm>
        <a:graphic>
          <a:graphicData uri="http://schemas.openxmlformats.org/drawingml/2006/table">
            <a:tbl>
              <a:tblPr/>
              <a:tblGrid>
                <a:gridCol w="3601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0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0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7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Model Architecture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Test Accuracy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Macro F1-Score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Delta vs HOG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27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CNN (Scratch)</a:t>
                      </a:r>
                      <a:endParaRPr lang="en-US" sz="135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37.75%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0.3577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−20.25 pts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9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27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HOG + Linear SVM</a:t>
                      </a:r>
                      <a:endParaRPr lang="en-US" sz="135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58.00%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0.5897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Baseline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2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27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MobileNetV3 + SVM</a:t>
                      </a:r>
                      <a:endParaRPr lang="en-US" sz="1350" dirty="0">
                        <a:latin typeface="Fragment Mono" charset="0"/>
                        <a:ea typeface="Fragment Mono" charset="0"/>
                        <a:cs typeface="Fragment Mon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70.11%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0.6823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700" b="1" dirty="0">
                          <a:solidFill>
                            <a:srgbClr val="3C12BA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+12.11 pts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58786" y="5089227"/>
            <a:ext cx="11074123" cy="443210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080" y="5207020"/>
            <a:ext cx="1083282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EVALUATED ON IDENTICAL UNSEEN DRIVERS · SCRATCH CNN COLLAPSED DUE TO CAPACITY LIMITS UNDER 5 EPOCHS</a:t>
            </a:r>
            <a:endParaRPr lang="en-US" sz="13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537BC7-0AE2-6BB3-D489-8DB8B270986A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1FD1CE03-88B6-6189-A026-78752128B0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432"/>
    </mc:Choice>
    <mc:Fallback xmlns="">
      <p:transition spd="slow" advTm="824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ERROR ASYMMETRY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Behavior errors and safety trade offs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264459"/>
            <a:ext cx="5308467" cy="1564145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25479" y="1505759"/>
            <a:ext cx="235172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954957" y="1575784"/>
            <a:ext cx="270235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FALSE NEGATIVE 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5479" y="2455609"/>
            <a:ext cx="4775081" cy="125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0514" y="2139512"/>
            <a:ext cx="477508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2.70% of distracted images were classified as safe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2968" y="3093187"/>
            <a:ext cx="5308467" cy="1478550"/>
          </a:xfrm>
          <a:prstGeom prst="rect">
            <a:avLst/>
          </a:prstGeom>
          <a:solidFill>
            <a:srgbClr val="E2DAFB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9661" y="3334487"/>
            <a:ext cx="202133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919138" y="3404512"/>
            <a:ext cx="237196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FALSE ALARM RATE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3766" y="3988926"/>
            <a:ext cx="477508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53.90% of safe-driving images were classified as distracted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4680" y="6045292"/>
            <a:ext cx="10642334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Best class: phone use, F1 0.8494; weakest: talking to a passenger, F1 0.4408.</a:t>
            </a:r>
            <a:r>
              <a:rPr lang="en-US" sz="14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These are image-level rates, not real-time warning rates.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E5C6BD-96A2-0C67-176D-4EAEEFA0244C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4F92020-A39A-DA58-1341-92D1BDBAC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7" y="1141460"/>
            <a:ext cx="5803755" cy="4835222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DE0DD45D-8422-1928-9363-C71198EB69B3}"/>
              </a:ext>
            </a:extLst>
          </p:cNvPr>
          <p:cNvSpPr/>
          <p:nvPr/>
        </p:nvSpPr>
        <p:spPr>
          <a:xfrm>
            <a:off x="9829470" y="925560"/>
            <a:ext cx="171204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Confusion Matrix</a:t>
            </a:r>
            <a:endParaRPr lang="en-US" sz="1400" dirty="0"/>
          </a:p>
        </p:txBody>
      </p:sp>
      <p:pic>
        <p:nvPicPr>
          <p:cNvPr id="15" name="Audio 14">
            <a:extLst>
              <a:ext uri="{FF2B5EF4-FFF2-40B4-BE49-F238E27FC236}">
                <a16:creationId xmlns:a16="http://schemas.microsoft.com/office/drawing/2014/main" id="{100F82B7-E53E-7B96-1BE7-4764D775C5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007"/>
    </mc:Choice>
    <mc:Fallback xmlns="">
      <p:transition spd="slow" advTm="650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EXPLAINABILITY AUDIT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Grad-CAM Explanations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3471" y="1188810"/>
            <a:ext cx="3488146" cy="35044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5867" y="1272630"/>
            <a:ext cx="33357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CASE_01_TRUE_POSITIVE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3471" y="1539250"/>
            <a:ext cx="3488146" cy="2209403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765" y="1780550"/>
            <a:ext cx="224159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754242" y="1850575"/>
            <a:ext cx="259222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CORRECT PHONE CALL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4765" y="2319606"/>
            <a:ext cx="300555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Hand &amp; Phone Cluster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24765" y="2766249"/>
            <a:ext cx="3005558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Gradients strongly localized around the driver's hand, handset, and ear boundary.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83471" y="3818678"/>
            <a:ext cx="3488146" cy="35044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5867" y="3902498"/>
            <a:ext cx="33357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CASE_02_FALSE_ALARM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3471" y="4169118"/>
            <a:ext cx="3488146" cy="2209403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765" y="4410418"/>
            <a:ext cx="257198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754242" y="4480443"/>
            <a:ext cx="292261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FALSE REACHING BEHIND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4765" y="4949474"/>
            <a:ext cx="300555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Seat &amp; Lap Activation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4765" y="5396117"/>
            <a:ext cx="3005558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Attribution fell onto the lower seat cushion and lap rather than shoulder rotation.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024013" y="1141460"/>
            <a:ext cx="3488246" cy="35044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76410" y="1225280"/>
            <a:ext cx="333584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CASE_03_MISSED_TEXT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024013" y="1491900"/>
            <a:ext cx="3488246" cy="2209403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5307" y="1733200"/>
            <a:ext cx="180097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394785" y="1803225"/>
            <a:ext cx="215160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MISSED TEXTING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65307" y="2272256"/>
            <a:ext cx="300565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Window Glare Distraction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265307" y="2718899"/>
            <a:ext cx="3005658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 activation on the resting steering hand and high-contrast passenger window glare.</a:t>
            </a:r>
            <a:endParaRPr lang="en-US" sz="14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4F30AA-80B6-0EC2-38A0-1C133DBBECB8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C1C096D-F8E9-83EF-A054-EF81284D2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553" y="1225280"/>
            <a:ext cx="4054976" cy="5239872"/>
          </a:xfrm>
          <a:prstGeom prst="rect">
            <a:avLst/>
          </a:prstGeom>
        </p:spPr>
      </p:pic>
      <p:pic>
        <p:nvPicPr>
          <p:cNvPr id="29" name="Audio 28">
            <a:extLst>
              <a:ext uri="{FF2B5EF4-FFF2-40B4-BE49-F238E27FC236}">
                <a16:creationId xmlns:a16="http://schemas.microsoft.com/office/drawing/2014/main" id="{EDBEDB34-AFA4-D31B-08A1-0800CDDFF0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821"/>
    </mc:Choice>
    <mc:Fallback xmlns="">
      <p:transition spd="slow" advTm="638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LIVE 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Notebook demonstration: inspect the evidence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316990"/>
            <a:ext cx="11632909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Two-minute walkthrough verifying pre-executed outputs against published benchmark claims.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58786" y="2093714"/>
            <a:ext cx="11074123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190234"/>
            <a:ext cx="109217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DEMONSTRATION_PROTOCOL.IPYNB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8786" y="2469555"/>
            <a:ext cx="11074123" cy="3057029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5479" y="2787055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76517" y="2751336"/>
            <a:ext cx="1008969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Held-out benchmark comparison table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76517" y="3197979"/>
            <a:ext cx="10089699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Verify identical 4,978 test images across HOG (58.00%), CNN (37.75%), and Hybrid (70.11%).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5479" y="3695998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76517" y="3660279"/>
            <a:ext cx="1008969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Normalized confusion matrix inspection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76517" y="4106922"/>
            <a:ext cx="10089699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Observe diagonal concentration alongside passenger conversation and reaching-behind leakage.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5479" y="4604941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76517" y="4569222"/>
            <a:ext cx="1008969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Three targeted Grad-CAM visual pairs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276517" y="5015865"/>
            <a:ext cx="10089699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Inspect original cabin images against heatmaps for correct call, false alarm, and missed texting.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8786" y="5526584"/>
            <a:ext cx="11074123" cy="443210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479" y="5644376"/>
            <a:ext cx="1080743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STRICT ACADEMIC PROTOCOL: EXECUTED OUTPUTS ONLY · ZERO TEST-SET RETRAINING OR ADAPTIVE PARAMETER TUNING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5479" y="3537248"/>
            <a:ext cx="10540736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5479" y="4446191"/>
            <a:ext cx="10540736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5D63FA-A712-F5D8-28D1-FFD88F277244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24" name="Audio 23">
            <a:extLst>
              <a:ext uri="{FF2B5EF4-FFF2-40B4-BE49-F238E27FC236}">
                <a16:creationId xmlns:a16="http://schemas.microsoft.com/office/drawing/2014/main" id="{76DD18E3-0101-61B6-7609-1A4E9F50B6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890"/>
    </mc:Choice>
    <mc:Fallback xmlns="">
      <p:transition spd="slow" advTm="628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SUBGROUP DISPARITY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Performance Disparities Across Drivers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312466"/>
            <a:ext cx="6724085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408986"/>
            <a:ext cx="65716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PER_DRIVER_ACCURACY.PLT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8786" y="1688306"/>
            <a:ext cx="6724085" cy="4814094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080" y="2198390"/>
            <a:ext cx="6241497" cy="37939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39960" y="2033688"/>
            <a:ext cx="3892949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8000" kern="100" spc="-36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40.59</a:t>
            </a:r>
            <a:endParaRPr lang="en-US" sz="8000" dirty="0"/>
          </a:p>
        </p:txBody>
      </p:sp>
      <p:sp>
        <p:nvSpPr>
          <p:cNvPr id="9" name="Text 6"/>
          <p:cNvSpPr/>
          <p:nvPr/>
        </p:nvSpPr>
        <p:spPr>
          <a:xfrm>
            <a:off x="7739960" y="3110627"/>
            <a:ext cx="389294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PERCENTAGE-POINT ACCURACY GAP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39960" y="3453269"/>
            <a:ext cx="3892949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Performance collapsed to </a:t>
            </a:r>
            <a:r>
              <a:rPr lang="en-US" sz="145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47.97%</a:t>
            </a: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on p050 while reaching </a:t>
            </a:r>
            <a:r>
              <a:rPr lang="en-US" sz="145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88.56%</a:t>
            </a: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on p035. Meanwhile, p026 registered an extreme </a:t>
            </a:r>
            <a:r>
              <a:rPr lang="en-US" sz="145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96.15% false-alarm rate</a:t>
            </a: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on safe-driving frames.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739960" y="4622304"/>
            <a:ext cx="3892949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7739960" y="4836934"/>
            <a:ext cx="3892949" cy="1073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METHODOLOGICAL CAUTION: DRIVER IDS DENOTE PARTITIONED SUBJECTS ONLY; NEVER INFER AGE, GENDER, OR DEMOGRAPHICS WITHOUT EXPLICIT GROUND-TRUTH LABELS.</a:t>
            </a:r>
            <a:endParaRPr lang="en-US" sz="13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BE533-0BEF-A674-F2AA-8F483F035669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16" name="Audio 15">
            <a:extLst>
              <a:ext uri="{FF2B5EF4-FFF2-40B4-BE49-F238E27FC236}">
                <a16:creationId xmlns:a16="http://schemas.microsoft.com/office/drawing/2014/main" id="{69A5CBA2-6D61-19C6-5B93-FC9B627FE9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527"/>
    </mc:Choice>
    <mc:Fallback xmlns="">
      <p:transition spd="slow" advTm="785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E2DAF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470288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51279" y="388620"/>
            <a:ext cx="734041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ETHICAL &amp; GOVERNANCE AUDIT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851279" y="709660"/>
            <a:ext cx="678163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Ethical Considerations and model recommendation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851279" y="1796653"/>
            <a:ext cx="6781630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851279" y="2074466"/>
            <a:ext cx="334299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4980756" y="2144490"/>
            <a:ext cx="369362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DATASET PROVENANCE &amp; CONSENT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51279" y="2542639"/>
            <a:ext cx="678163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Verify data licensing, permitted downstream reuse, and participant consent terms before any operational pipeline integration.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851279" y="3187601"/>
            <a:ext cx="334299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4980756" y="3257625"/>
            <a:ext cx="369362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BIOMETRIC PRIVACY PROTECTION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851279" y="3655774"/>
            <a:ext cx="678163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Driver faces and vehicle interior geometry require end-to-end encryption, strict role-based access, retention limits, and verifiable deletion.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851279" y="4300736"/>
            <a:ext cx="312273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4980756" y="4370761"/>
            <a:ext cx="347336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OPERATIONAL FAILURE STAKES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51279" y="4768910"/>
            <a:ext cx="678163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False negatives create dangerous complacency; false positives trigger driver distraction, alarm fatigue, and unfair commercial penalties.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851279" y="5392995"/>
            <a:ext cx="6781630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Final Recommendation:</a:t>
            </a: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Deploy exclusively as an offline academic benchmark—never for autonomous actuation, insurance underwriting, or driver termination.</a:t>
            </a:r>
            <a:endParaRPr lang="en-US" sz="14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41523B-037A-315D-3580-B3A7AB0BA120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5E1DF-D4CC-F80E-3061-4F131DE9785E}"/>
              </a:ext>
            </a:extLst>
          </p:cNvPr>
          <p:cNvSpPr txBox="1"/>
          <p:nvPr/>
        </p:nvSpPr>
        <p:spPr>
          <a:xfrm>
            <a:off x="4470288" y="5896110"/>
            <a:ext cx="91358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00FFFF"/>
                </a:highlight>
              </a:rPr>
              <a:t>Kaggle Data Set: https://</a:t>
            </a:r>
            <a:r>
              <a:rPr lang="en-US" sz="1400" dirty="0" err="1">
                <a:highlight>
                  <a:srgbClr val="00FFFF"/>
                </a:highlight>
              </a:rPr>
              <a:t>www.kaggle.com</a:t>
            </a:r>
            <a:r>
              <a:rPr lang="en-US" sz="1400" dirty="0">
                <a:highlight>
                  <a:srgbClr val="00FFFF"/>
                </a:highlight>
              </a:rPr>
              <a:t>/competitions/state-farm-distracted-driver-detection/data</a:t>
            </a:r>
          </a:p>
        </p:txBody>
      </p:sp>
      <p:pic>
        <p:nvPicPr>
          <p:cNvPr id="21" name="Audio 20">
            <a:extLst>
              <a:ext uri="{FF2B5EF4-FFF2-40B4-BE49-F238E27FC236}">
                <a16:creationId xmlns:a16="http://schemas.microsoft.com/office/drawing/2014/main" id="{A8D78ED2-E012-91E2-38B4-E692254E3B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909"/>
    </mc:Choice>
    <mc:Fallback xmlns="">
      <p:transition spd="slow" advTm="1099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PROPOSED INFERENCE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Proposed Deployment and Interference API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316990"/>
            <a:ext cx="11632909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Hypothetical edge and cloud serving architecture (conceptual design, distinct from notebook implementation).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58786" y="2144018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07" y="2318643"/>
            <a:ext cx="330192" cy="33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8786" y="2979361"/>
            <a:ext cx="276853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STEP 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8786" y="3399234"/>
            <a:ext cx="25399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Camera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58786" y="3845878"/>
            <a:ext cx="2539936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Proposed flow begins at the camera.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555911" y="2144018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532" y="2318643"/>
            <a:ext cx="330192" cy="33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5911" y="2979361"/>
            <a:ext cx="25399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STEP 02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55911" y="3399234"/>
            <a:ext cx="231134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Preprocessing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555911" y="3845878"/>
            <a:ext cx="2539936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Prepare input for MobileNet.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324442" y="2144018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9062" y="2318643"/>
            <a:ext cx="330192" cy="330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4442" y="2979361"/>
            <a:ext cx="25399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STEP 03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24442" y="3399234"/>
            <a:ext cx="231134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MobileNet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6324442" y="3845878"/>
            <a:ext cx="2539936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Feature extraction.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9092973" y="2144018"/>
            <a:ext cx="679433" cy="679450"/>
          </a:xfrm>
          <a:prstGeom prst="rect">
            <a:avLst/>
          </a:prstGeom>
          <a:solidFill>
            <a:srgbClr val="1A1A1A"/>
          </a:solidFill>
          <a:ln w="12700">
            <a:solidFill>
              <a:srgbClr val="876CD9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7593" y="2318643"/>
            <a:ext cx="330192" cy="330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2973" y="2979361"/>
            <a:ext cx="253993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STEP 04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092973" y="3399234"/>
            <a:ext cx="2539936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Scaler/SVM → advisory application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9092973" y="4147502"/>
            <a:ext cx="2539936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Return class, model version, and an uncalibrated decision score.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558786" y="5223073"/>
            <a:ext cx="11074123" cy="3504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0"/>
          <p:cNvSpPr/>
          <p:nvPr/>
        </p:nvSpPr>
        <p:spPr>
          <a:xfrm>
            <a:off x="711182" y="5306893"/>
            <a:ext cx="1092172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PROPOSED OPTIONS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58786" y="5573514"/>
            <a:ext cx="11074123" cy="827286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00080" y="5743138"/>
            <a:ext cx="10591535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Prefer local vehicle inference where feasible; a controlled pilot could use authenticated HTTPS and FastAPI. SageMaker, Vertex AI, and Azure ML are options, not implemented deployments.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3320967" y="2144018"/>
            <a:ext cx="12700" cy="249604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4"/>
          <p:cNvSpPr/>
          <p:nvPr/>
        </p:nvSpPr>
        <p:spPr>
          <a:xfrm>
            <a:off x="6089498" y="2144018"/>
            <a:ext cx="12700" cy="249604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Shape 25"/>
          <p:cNvSpPr/>
          <p:nvPr/>
        </p:nvSpPr>
        <p:spPr>
          <a:xfrm>
            <a:off x="8858028" y="2144018"/>
            <a:ext cx="12700" cy="249604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42851F-36CC-EFD1-D84C-053EB0824570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042DF5-B92F-8698-F96E-A52749F5DB41}"/>
              </a:ext>
            </a:extLst>
          </p:cNvPr>
          <p:cNvSpPr txBox="1"/>
          <p:nvPr/>
        </p:nvSpPr>
        <p:spPr>
          <a:xfrm>
            <a:off x="461973" y="4569728"/>
            <a:ext cx="9135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Kaggle Data Set: https://</a:t>
            </a:r>
            <a:r>
              <a:rPr lang="en-US" dirty="0" err="1">
                <a:highlight>
                  <a:srgbClr val="00FFFF"/>
                </a:highlight>
              </a:rPr>
              <a:t>www.kaggle.com</a:t>
            </a:r>
            <a:r>
              <a:rPr lang="en-US" dirty="0">
                <a:highlight>
                  <a:srgbClr val="00FFFF"/>
                </a:highlight>
              </a:rPr>
              <a:t>/competitions/state-farm-distracted-driver-detection/data</a:t>
            </a:r>
          </a:p>
        </p:txBody>
      </p:sp>
      <p:pic>
        <p:nvPicPr>
          <p:cNvPr id="36" name="Audio 35">
            <a:extLst>
              <a:ext uri="{FF2B5EF4-FFF2-40B4-BE49-F238E27FC236}">
                <a16:creationId xmlns:a16="http://schemas.microsoft.com/office/drawing/2014/main" id="{27C05A3A-6BFF-5D05-946C-50B3CF44EA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582"/>
    </mc:Choice>
    <mc:Fallback xmlns="">
      <p:transition spd="slow" advTm="745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POST-DEPLOYMENT OVERSIGHT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Scalability Monitoring and Retraining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538387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84424" y="1502668"/>
            <a:ext cx="1064848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Telemetry &amp; Operational Reliability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84424" y="1949311"/>
            <a:ext cx="10648485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Continuous telemetry tracking inference latency, request error rates, frame degradation, and distributional feature drift.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58786" y="2701330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4424" y="2665611"/>
            <a:ext cx="1064848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Human-in-the-Loop Disparity Auditing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4424" y="3112254"/>
            <a:ext cx="10648485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Connecting telemetry logs to secondary human reviews to quantify real-world false alarms and per-driver accuracy variance.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58786" y="3864273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4424" y="3828554"/>
            <a:ext cx="1064848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Controlled Retraining Pipelines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4424" y="4275197"/>
            <a:ext cx="10648485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Enforcing strict driver-separated validation gates and verified consent protocols on all candidate retraining batches.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58786" y="5027216"/>
            <a:ext cx="8826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4225" y="4991497"/>
            <a:ext cx="1064868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100" spc="-9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Canary Staging &amp; Instant Rollback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84225" y="5438140"/>
            <a:ext cx="10648684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Canary release rollouts with automated fallback switches to prevent catastrophic behavioral drift in production fleets.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58786" y="6076672"/>
            <a:ext cx="1107412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GOVERNANCE REQUIREMENT: PREDICTION LOGS WITHOUT HUMAN VERIFICATION ARE INSUFFICIENT TO DETECT DEMOGRAPHIC OR ENVIRONMENTAL DEGRADATION.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8786" y="2415580"/>
            <a:ext cx="11074123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558786" y="3578523"/>
            <a:ext cx="11074123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558786" y="4741466"/>
            <a:ext cx="11074123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073DD1-5513-19EF-2272-50916E8C590C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23" name="Audio 22">
            <a:extLst>
              <a:ext uri="{FF2B5EF4-FFF2-40B4-BE49-F238E27FC236}">
                <a16:creationId xmlns:a16="http://schemas.microsoft.com/office/drawing/2014/main" id="{CAE05B8A-F806-97A6-B8A2-35F33B6553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698"/>
    </mc:Choice>
    <mc:Fallback xmlns="">
      <p:transition spd="slow" advTm="726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SYSTEM BOUNDARIES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Tools libraries and deployment units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748790"/>
            <a:ext cx="11632909" cy="248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Distinguishing executed academic artifacts from conceptual commercial architectures.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58786" y="2720876"/>
            <a:ext cx="5384665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817396"/>
            <a:ext cx="52322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IMPLEMENTED_NOTEBOOK.PY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8786" y="3096716"/>
            <a:ext cx="5384665" cy="2121396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4681" y="3261816"/>
            <a:ext cx="224159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904158" y="3331841"/>
            <a:ext cx="259222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EXECUTED ARTIFACTS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4681" y="3725466"/>
            <a:ext cx="4952876" cy="1327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PyTorch &amp; Torchvision backbones</a:t>
            </a:r>
            <a:endParaRPr lang="en-US" sz="1700" dirty="0"/>
          </a:p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Scikit-learn (LinearSVC, cross-validation)</a:t>
            </a:r>
            <a:endParaRPr lang="en-US" sz="1700" dirty="0"/>
          </a:p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Scikit-image (HOG feature extraction)</a:t>
            </a:r>
            <a:endParaRPr lang="en-US" sz="1700" dirty="0"/>
          </a:p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NumPy, Pandas, &amp; Matplotlib analysis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8244" y="2720876"/>
            <a:ext cx="5384665" cy="375841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640" y="2817396"/>
            <a:ext cx="52322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PROPOSED_CLOUD_SPEC.YAML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8244" y="3096716"/>
            <a:ext cx="5384665" cy="2121396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138" y="3261816"/>
            <a:ext cx="2461853" cy="336649"/>
          </a:xfrm>
          <a:prstGeom prst="rect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3616" y="3331841"/>
            <a:ext cx="281248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HYPOTHETICAL SYSTEMS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64138" y="3725466"/>
            <a:ext cx="4952876" cy="1327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FastAPI serving containers</a:t>
            </a:r>
            <a:endParaRPr lang="en-US" sz="1700" dirty="0"/>
          </a:p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Docker runtime environments</a:t>
            </a:r>
            <a:endParaRPr lang="en-US" sz="1700" dirty="0"/>
          </a:p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Managed endpoints (SageMaker / Vertex AI)</a:t>
            </a:r>
            <a:endParaRPr lang="en-US" sz="1700" dirty="0"/>
          </a:p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In-vehicle hardware acceleration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8786" y="5348605"/>
            <a:ext cx="1107412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TECHNICAL CONSTRAINTS: STATIC SINGLE-CAMERA FRAMES · SMALL 26-DRIVER SAMPLE · CROPPING LOSS · SCRATCH CNN CAPPED AT 5 TRAINING EPOCHS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4B2A3B-95C9-B64D-EF6B-AC5BA381C2EE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21" name="Audio 20">
            <a:extLst>
              <a:ext uri="{FF2B5EF4-FFF2-40B4-BE49-F238E27FC236}">
                <a16:creationId xmlns:a16="http://schemas.microsoft.com/office/drawing/2014/main" id="{C28B4216-2596-4FB0-3C22-2F7F9B2DCA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779"/>
    </mc:Choice>
    <mc:Fallback xmlns="">
      <p:transition spd="slow" advTm="837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716262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SYNTHESIS &amp;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680703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796653"/>
            <a:ext cx="6807030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2074466"/>
            <a:ext cx="6807030" cy="1684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1500"/>
              </a:spcAft>
              <a:buNone/>
            </a:pPr>
            <a:r>
              <a:rPr lang="en-US" sz="145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Empirical confirmation:</a:t>
            </a: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Pretrained MobileNetV3 features paired with a heavily regularized SVM achieved </a:t>
            </a:r>
            <a:r>
              <a:rPr lang="en-US" sz="145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70.11% accuracy</a:t>
            </a: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and </a:t>
            </a:r>
            <a:r>
              <a:rPr lang="en-US" sz="1450" b="1" dirty="0">
                <a:solidFill>
                  <a:srgbClr val="1A1A1A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0.6823 macro F1</a:t>
            </a: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on unseen drivers.</a:t>
            </a:r>
            <a:endParaRPr lang="en-US" sz="14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However, rigorous driver separation, macro averaging, Grad-CAM audits, and subgroup testing revealed a 53.90% safe-driver false-alarm rate and a 40.59-point gap between individual drivers.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58786" y="3886398"/>
            <a:ext cx="2792343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688263" y="3956423"/>
            <a:ext cx="314297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kern="100" spc="27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FUTURE RESEARCH ROADMAP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58786" y="4416723"/>
            <a:ext cx="6807030" cy="1273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Fine-tuning deep trunk layers with temporal video sequence models</a:t>
            </a:r>
            <a:endParaRPr lang="en-US" sz="1700" dirty="0"/>
          </a:p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Expanding cabin diversity across vehicle models and environmental lighting</a:t>
            </a:r>
            <a:endParaRPr lang="en-US" sz="1700" dirty="0"/>
          </a:p>
          <a:p>
            <a:pPr marL="345440" indent="-345440" algn="l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Privacy-preserving federated training and strict fairness auditing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B8B8C4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B7D082B-8BC7-DB26-0E4E-D1B584AEE699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pic>
        <p:nvPicPr>
          <p:cNvPr id="14" name="Audio 13">
            <a:extLst>
              <a:ext uri="{FF2B5EF4-FFF2-40B4-BE49-F238E27FC236}">
                <a16:creationId xmlns:a16="http://schemas.microsoft.com/office/drawing/2014/main" id="{5C87C814-4FBF-7473-C39F-6AA407F2AA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898"/>
    </mc:Choice>
    <mc:Fallback xmlns="">
      <p:transition spd="slow" advTm="718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716262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52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ACADEMIC CITATIONS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680703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100" spc="-119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364853"/>
            <a:ext cx="6807030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355FBC-8B33-FDAB-FEC9-1068216C0FD4}"/>
              </a:ext>
            </a:extLst>
          </p:cNvPr>
          <p:cNvSpPr/>
          <p:nvPr/>
        </p:nvSpPr>
        <p:spPr>
          <a:xfrm>
            <a:off x="0" y="6523463"/>
            <a:ext cx="12192000" cy="334537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Ramon Flores Arteaga – MSC Artificial Intelligence – Machine Learning July 2026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D078FE-A933-3AAD-BD10-6819D2BE8E53}"/>
              </a:ext>
            </a:extLst>
          </p:cNvPr>
          <p:cNvSpPr txBox="1"/>
          <p:nvPr/>
        </p:nvSpPr>
        <p:spPr>
          <a:xfrm>
            <a:off x="836341" y="1619897"/>
            <a:ext cx="10872439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Amazon Web Services (</a:t>
            </a:r>
            <a:r>
              <a:rPr lang="en-US" sz="1200" dirty="0" err="1"/>
              <a:t>n.d.a</a:t>
            </a:r>
            <a:r>
              <a:rPr lang="en-US" sz="1200" dirty="0"/>
              <a:t>) </a:t>
            </a:r>
            <a:r>
              <a:rPr lang="en-US" sz="1200" i="1" dirty="0"/>
              <a:t>Data and model quality monitoring with Amazon SageMaker Model Monitor</a:t>
            </a:r>
            <a:r>
              <a:rPr lang="en-US" sz="1200" dirty="0"/>
              <a:t>. Available at: </a:t>
            </a:r>
            <a:r>
              <a:rPr lang="en-US" sz="1200" dirty="0">
                <a:hlinkClick r:id="rId5"/>
              </a:rPr>
              <a:t>https://docs.aws.amazon.com/sagemaker/latest/dg/model-monitor.html</a:t>
            </a:r>
            <a:r>
              <a:rPr lang="en-US" sz="1200" dirty="0"/>
              <a:t> (Accessed: 12 October 2026). </a:t>
            </a:r>
            <a:r>
              <a:rPr lang="en-US" sz="1200" dirty="0">
                <a:hlinkClick r:id="rId5"/>
              </a:rPr>
              <a:t>Amazon SageMaker AI</a:t>
            </a:r>
            <a:endParaRPr lang="en-US" sz="1200" dirty="0"/>
          </a:p>
          <a:p>
            <a:r>
              <a:rPr lang="en-US" sz="1200" dirty="0"/>
              <a:t>Amazon Web Services (</a:t>
            </a:r>
            <a:r>
              <a:rPr lang="en-US" sz="1200" dirty="0" err="1"/>
              <a:t>n.d.b</a:t>
            </a:r>
            <a:r>
              <a:rPr lang="en-US" sz="1200" dirty="0"/>
              <a:t>) </a:t>
            </a:r>
            <a:r>
              <a:rPr lang="en-US" sz="1200" i="1" dirty="0"/>
              <a:t>Real-time inference</a:t>
            </a:r>
            <a:r>
              <a:rPr lang="en-US" sz="1200" dirty="0"/>
              <a:t>. Available at: </a:t>
            </a:r>
            <a:r>
              <a:rPr lang="en-US" sz="1200" dirty="0">
                <a:hlinkClick r:id="rId6"/>
              </a:rPr>
              <a:t>https://docs.aws.amazon.com/sagemaker/latest/dg/realtime-endpoints.html</a:t>
            </a:r>
            <a:r>
              <a:rPr lang="en-US" sz="1200" dirty="0"/>
              <a:t> (Accessed: 12 October 2026). </a:t>
            </a:r>
            <a:r>
              <a:rPr lang="en-US" sz="1200" dirty="0">
                <a:hlinkClick r:id="rId6"/>
              </a:rPr>
              <a:t>Amazon SageMaker AI</a:t>
            </a:r>
            <a:endParaRPr lang="en-US" sz="1200" dirty="0"/>
          </a:p>
          <a:p>
            <a:r>
              <a:rPr lang="en-US" sz="1200" dirty="0" err="1"/>
              <a:t>FastAPI</a:t>
            </a:r>
            <a:r>
              <a:rPr lang="en-US" sz="1200" dirty="0"/>
              <a:t> (n.d.) </a:t>
            </a:r>
            <a:r>
              <a:rPr lang="en-US" sz="1200" i="1" dirty="0" err="1"/>
              <a:t>FastAPI</a:t>
            </a:r>
            <a:r>
              <a:rPr lang="en-US" sz="1200" i="1" dirty="0"/>
              <a:t> in containers – Docker</a:t>
            </a:r>
            <a:r>
              <a:rPr lang="en-US" sz="1200" dirty="0"/>
              <a:t>. Available at: </a:t>
            </a:r>
            <a:r>
              <a:rPr lang="en-US" sz="1200" dirty="0">
                <a:hlinkClick r:id="rId7"/>
              </a:rPr>
              <a:t>https://fastapi.tiangolo.com/deployment/docker/</a:t>
            </a:r>
            <a:r>
              <a:rPr lang="en-US" sz="1200" dirty="0"/>
              <a:t> (Accessed: 12 October 2026). </a:t>
            </a:r>
            <a:r>
              <a:rPr lang="en-US" sz="1200" dirty="0">
                <a:hlinkClick r:id="rId7"/>
              </a:rPr>
              <a:t>FastAPI</a:t>
            </a:r>
            <a:endParaRPr lang="en-US" sz="1200" dirty="0"/>
          </a:p>
          <a:p>
            <a:r>
              <a:rPr lang="en-US" sz="1200" dirty="0"/>
              <a:t>Howard, A., Sandler, M., Chu, G., Chen, L.-C., Chen, B., Tan, M., Wang, W., Zhu, Y., Pang, R., Vasudevan, V., Le, Q.V. and Adam, H. (2019) ‘Searching for MobileNetV3’, </a:t>
            </a:r>
            <a:r>
              <a:rPr lang="en-US" sz="1200" i="1" dirty="0"/>
              <a:t>Proceedings of the IEEE/CVF International Conference on Computer Vision</a:t>
            </a:r>
            <a:r>
              <a:rPr lang="en-US" sz="1200" dirty="0"/>
              <a:t>, pp. 1314–1324. Available at: </a:t>
            </a:r>
            <a:r>
              <a:rPr lang="en-US" sz="1200" dirty="0">
                <a:hlinkClick r:id="rId8"/>
              </a:rPr>
              <a:t>https://openaccess.thecvf.com/content_ICCV_2019/html/Howard_Searching_for_MobileNetV3_ICCV_2019_paper.html</a:t>
            </a:r>
            <a:r>
              <a:rPr lang="en-US" sz="1200" dirty="0"/>
              <a:t> (Accessed: 12 October 2026). </a:t>
            </a:r>
            <a:r>
              <a:rPr lang="en-US" sz="1200" dirty="0">
                <a:hlinkClick r:id="rId8"/>
              </a:rPr>
              <a:t>openaccess.thecvf.com</a:t>
            </a:r>
            <a:endParaRPr lang="en-US" sz="1200" dirty="0"/>
          </a:p>
          <a:p>
            <a:r>
              <a:rPr lang="en-US" sz="1200" dirty="0" err="1"/>
              <a:t>PyTorch</a:t>
            </a:r>
            <a:r>
              <a:rPr lang="en-US" sz="1200" dirty="0"/>
              <a:t> (n.d.) </a:t>
            </a:r>
            <a:r>
              <a:rPr lang="en-US" sz="1200" i="1" dirty="0"/>
              <a:t>mobilenet_v3_small</a:t>
            </a:r>
            <a:r>
              <a:rPr lang="en-US" sz="1200" dirty="0"/>
              <a:t>. Available at: </a:t>
            </a:r>
            <a:r>
              <a:rPr lang="en-US" sz="1200" dirty="0">
                <a:hlinkClick r:id="rId9"/>
              </a:rPr>
              <a:t>https://docs.pytorch.org/vision/main/models/generated/torchvision.models.mobilenet_v3_small.html</a:t>
            </a:r>
            <a:r>
              <a:rPr lang="en-US" sz="1200" dirty="0"/>
              <a:t> (Accessed: 12 October 2026). </a:t>
            </a:r>
            <a:r>
              <a:rPr lang="en-US" sz="1200" dirty="0">
                <a:hlinkClick r:id="rId9"/>
              </a:rPr>
              <a:t>Torchvision main documentation</a:t>
            </a:r>
            <a:endParaRPr lang="en-US" sz="1200" dirty="0"/>
          </a:p>
          <a:p>
            <a:r>
              <a:rPr lang="en-US" sz="1200" dirty="0"/>
              <a:t>Scikit-image (n.d.) </a:t>
            </a:r>
            <a:r>
              <a:rPr lang="en-US" sz="1200" i="1" dirty="0" err="1"/>
              <a:t>skimage.feature.hog</a:t>
            </a:r>
            <a:r>
              <a:rPr lang="en-US" sz="1200" dirty="0"/>
              <a:t>. Available at: </a:t>
            </a:r>
            <a:r>
              <a:rPr lang="en-US" sz="1200" dirty="0">
                <a:hlinkClick r:id="rId10"/>
              </a:rPr>
              <a:t>https://scikit-image.org/docs/stable/api/skimage.feature.html#skimage.feature.hog</a:t>
            </a:r>
            <a:r>
              <a:rPr lang="en-US" sz="1200" dirty="0"/>
              <a:t> (Accessed: 12 October 2026). </a:t>
            </a:r>
            <a:r>
              <a:rPr lang="en-US" sz="1200" dirty="0">
                <a:hlinkClick r:id="rId11"/>
              </a:rPr>
              <a:t>skimage 0.26.0 documentation</a:t>
            </a:r>
            <a:endParaRPr lang="en-US" sz="1200" dirty="0"/>
          </a:p>
          <a:p>
            <a:r>
              <a:rPr lang="en-US" sz="1200" dirty="0"/>
              <a:t>Scikit-learn (</a:t>
            </a:r>
            <a:r>
              <a:rPr lang="en-US" sz="1200" dirty="0" err="1"/>
              <a:t>n.d.a</a:t>
            </a:r>
            <a:r>
              <a:rPr lang="en-US" sz="1200" dirty="0"/>
              <a:t>) </a:t>
            </a:r>
            <a:r>
              <a:rPr lang="en-US" sz="1200" i="1" dirty="0" err="1"/>
              <a:t>LinearSVC</a:t>
            </a:r>
            <a:r>
              <a:rPr lang="en-US" sz="1200" dirty="0"/>
              <a:t>. Available at: </a:t>
            </a:r>
            <a:r>
              <a:rPr lang="en-US" sz="1200" dirty="0">
                <a:hlinkClick r:id="rId12"/>
              </a:rPr>
              <a:t>https://scikit-learn.org/stable/modules/generated/sklearn.svm.LinearSVC.html</a:t>
            </a:r>
            <a:r>
              <a:rPr lang="en-US" sz="1200" dirty="0"/>
              <a:t> (Accessed: 12 October 2026). </a:t>
            </a:r>
            <a:r>
              <a:rPr lang="en-US" sz="1200" dirty="0">
                <a:hlinkClick r:id="rId12"/>
              </a:rPr>
              <a:t>scikit-learn 1.9.1 documentation</a:t>
            </a:r>
            <a:endParaRPr lang="en-US" sz="1200" dirty="0"/>
          </a:p>
          <a:p>
            <a:r>
              <a:rPr lang="en-US" sz="1200" dirty="0"/>
              <a:t>Scikit-learn (</a:t>
            </a:r>
            <a:r>
              <a:rPr lang="en-US" sz="1200" dirty="0" err="1"/>
              <a:t>n.d.b</a:t>
            </a:r>
            <a:r>
              <a:rPr lang="en-US" sz="1200" dirty="0"/>
              <a:t>) </a:t>
            </a:r>
            <a:r>
              <a:rPr lang="en-US" sz="1200" i="1" dirty="0" err="1"/>
              <a:t>StandardScaler</a:t>
            </a:r>
            <a:r>
              <a:rPr lang="en-US" sz="1200" dirty="0"/>
              <a:t>. Available at: </a:t>
            </a:r>
            <a:r>
              <a:rPr lang="en-US" sz="1200" dirty="0">
                <a:hlinkClick r:id="rId13"/>
              </a:rPr>
              <a:t>https://scikit-learn.org/stable/modules/generated/sklearn.preprocessing.StandardScaler.html</a:t>
            </a:r>
            <a:r>
              <a:rPr lang="en-US" sz="1200" dirty="0"/>
              <a:t> (Accessed: 12 October 2026). </a:t>
            </a:r>
            <a:r>
              <a:rPr lang="en-US" sz="1200" dirty="0">
                <a:hlinkClick r:id="rId13"/>
              </a:rPr>
              <a:t>scikit-learn 1.9.1 documentation</a:t>
            </a:r>
            <a:endParaRPr lang="en-US" sz="1200" dirty="0"/>
          </a:p>
          <a:p>
            <a:r>
              <a:rPr lang="en-US" sz="1200" dirty="0"/>
              <a:t>Selvaraju, R.R., Cogswell, M., Das, A., Vedantam, R., Parikh, D. and Batra, D. (2017) ‘Grad-CAM: Visual explanations from deep networks via gradient-based localization’, </a:t>
            </a:r>
            <a:r>
              <a:rPr lang="en-US" sz="1200" i="1" dirty="0"/>
              <a:t>Proceedings of the IEEE International Conference on Computer Vision</a:t>
            </a:r>
            <a:r>
              <a:rPr lang="en-US" sz="1200" dirty="0"/>
              <a:t>, pp. 618–626. Available at: </a:t>
            </a:r>
            <a:r>
              <a:rPr lang="en-US" sz="1200" dirty="0">
                <a:hlinkClick r:id="rId14"/>
              </a:rPr>
              <a:t>https://openaccess.thecvf.com/content_iccv_2017/html/Selvaraju_Grad-CAM_Visual_Explanations_ICCV_2017_paper.html</a:t>
            </a:r>
            <a:r>
              <a:rPr lang="en-US" sz="1200" dirty="0"/>
              <a:t> (Accessed: 12 October 2026). </a:t>
            </a:r>
            <a:r>
              <a:rPr lang="en-US" sz="1200" dirty="0">
                <a:hlinkClick r:id="rId14"/>
              </a:rPr>
              <a:t>openaccess.thecvf.com</a:t>
            </a:r>
            <a:endParaRPr lang="en-US" sz="1200" dirty="0"/>
          </a:p>
          <a:p>
            <a:r>
              <a:rPr lang="en-US" sz="1200" dirty="0"/>
              <a:t>State Farm (n.d.) </a:t>
            </a:r>
            <a:r>
              <a:rPr lang="en-US" sz="1200" i="1" dirty="0"/>
              <a:t>State Farm distracted driver detection</a:t>
            </a:r>
            <a:r>
              <a:rPr lang="en-US" sz="1200" dirty="0"/>
              <a:t>. Kaggle. Available at: </a:t>
            </a:r>
            <a:r>
              <a:rPr lang="en-US" sz="1200" dirty="0">
                <a:hlinkClick r:id="rId15"/>
              </a:rPr>
              <a:t>https://www.kaggle.com/competitions/state-farm-distracted-driver-detection</a:t>
            </a:r>
            <a:r>
              <a:rPr lang="en-US" sz="1200" dirty="0"/>
              <a:t> (Accessed: 12 October 2026). </a:t>
            </a:r>
            <a:r>
              <a:rPr lang="en-US" sz="1200" dirty="0">
                <a:hlinkClick r:id="rId15"/>
              </a:rPr>
              <a:t>Kaggle</a:t>
            </a:r>
            <a:endParaRPr lang="en-US" sz="1200" dirty="0"/>
          </a:p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Gamma was used for some help with colors and text design. </a:t>
            </a:r>
          </a:p>
        </p:txBody>
      </p:sp>
      <p:pic>
        <p:nvPicPr>
          <p:cNvPr id="7" name="Audio 6">
            <a:extLst>
              <a:ext uri="{FF2B5EF4-FFF2-40B4-BE49-F238E27FC236}">
                <a16:creationId xmlns:a16="http://schemas.microsoft.com/office/drawing/2014/main" id="{98C978DC-E51F-6ADE-F35F-D740E7551C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70"/>
    </mc:Choice>
    <mc:Fallback xmlns="">
      <p:transition spd="slow" advTm="361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2490</Words>
  <Application>Microsoft Macintosh PowerPoint</Application>
  <PresentationFormat>Widescreen</PresentationFormat>
  <Paragraphs>252</Paragraphs>
  <Slides>18</Slides>
  <Notes>17</Notes>
  <HiddenSlides>0</HiddenSlides>
  <MMClips>18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Fragment Mono</vt:lpstr>
      <vt:lpstr>Inter Tight SemiBold</vt:lpstr>
      <vt:lpstr>Arial</vt:lpstr>
      <vt:lpstr>Inter Tight</vt:lpstr>
      <vt:lpstr>Calibri</vt:lpstr>
      <vt:lpstr>Inter Tight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Flores Arteaga, Ramon</cp:lastModifiedBy>
  <cp:revision>5</cp:revision>
  <dcterms:created xsi:type="dcterms:W3CDTF">2026-10-12T06:41:08Z</dcterms:created>
  <dcterms:modified xsi:type="dcterms:W3CDTF">2026-10-12T08:17:51Z</dcterms:modified>
</cp:coreProperties>
</file>